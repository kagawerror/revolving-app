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4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1999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app_icon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8046720" y="0"/>
            <a:ext cx="4206240" cy="6858000"/>
          </a:xfrm>
          <a:prstGeom prst="rect">
            <a:avLst/>
          </a:prstGeom>
          <a:solidFill>
            <a:srgbClr val="E7F3ED"/>
          </a:solidFill>
          <a:ln>
            <a:noFill/>
          </a:ln>
        </p:spPr>
      </p:sp>
      <p:pic>
        <p:nvPicPr>
          <p:cNvPr id="4" name="App Icon"/>
          <p:cNvPicPr/>
          <p:nvPr/>
        </p:nvPicPr>
        <p:blipFill>
          <a:blip r:embed="rId2"/>
          <a:stretch>
            <a:fillRect/>
          </a:stretch>
        </p:blipFill>
        <p:spPr>
          <a:xfrm>
            <a:off x="9006840" y="1051560"/>
            <a:ext cx="1965960" cy="196596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658368" y="960120"/>
            <a:ext cx="690372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F6B84B"/>
                </a:solidFill>
              </a:rPr>
              <a:t>ACCOMPLISHMENT REPORT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21792" y="1572768"/>
            <a:ext cx="7223760" cy="1417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4200">
                <a:b/>
                <a:solidFill>
                  <a:srgbClr val="FFFFFF"/>
                </a:solidFill>
              </a:rPr>
              <a:t>Revolving Fund Management App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58368" y="3108960"/>
            <a:ext cx="6995160" cy="9601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200">
                <a:solidFill>
                  <a:srgbClr val="EAF6EF"/>
                </a:solidFill>
              </a:rPr>
              <a:t>A Flutter + Firebase app for managing company petty cash, releases, replenishments, audits, reports, and updates.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8368" y="5879592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b/>
                <a:solidFill>
                  <a:srgbClr val="DCEBE5"/>
                </a:solidFill>
              </a:rPr>
              <a:t>Prepared: June 18, 2026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503920" y="3246120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>
                <a:b/>
                <a:solidFill>
                  <a:srgbClr val="0B6E4F"/>
                </a:solidFill>
              </a:rPr>
              <a:t>Version 1.4.0+12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503920" y="3931920"/>
            <a:ext cx="2971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500">
                <a:solidFill>
                  <a:srgbClr val="5F6F68"/>
                </a:solidFill>
              </a:rPr>
              <a:t>Spark-tier Firebase, no Cloud 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E7F3ED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840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>
                <a:b/>
                <a:solidFill>
                  <a:srgbClr val="0B6E4F"/>
                </a:solidFill>
              </a:rPr>
              <a:t>Executive Summary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30352" y="932688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300">
                <a:solidFill>
                  <a:srgbClr val="5F6F68"/>
                </a:solidFill>
              </a:rPr>
              <a:t>What was accomplished</a:t>
            </a:r>
          </a:p>
        </p:txBody>
      </p:sp>
      <p:sp>
        <p:nvSpPr>
          <p:cNvPr id="20" name="Shape 20"/>
          <p:cNvSpPr/>
          <p:nvPr/>
        </p:nvSpPr>
        <p:spPr>
          <a:xfrm>
            <a:off x="594360" y="1417320"/>
            <a:ext cx="35204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22960" y="160020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Digital cash control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22960" y="2039112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Replaced paper ledgers and chat-based proof handling with a structured fund workflow.</a:t>
            </a:r>
          </a:p>
        </p:txBody>
      </p:sp>
      <p:sp>
        <p:nvSpPr>
          <p:cNvPr id="30" name="Shape 30"/>
          <p:cNvSpPr/>
          <p:nvPr/>
        </p:nvSpPr>
        <p:spPr>
          <a:xfrm>
            <a:off x="4343400" y="1417320"/>
            <a:ext cx="35204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4572000" y="160020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Auditable money movement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4572000" y="2039112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Every release, replenishment, adjustment, and cash count is traceable by user, amount, status, and time.</a:t>
            </a:r>
          </a:p>
        </p:txBody>
      </p:sp>
      <p:sp>
        <p:nvSpPr>
          <p:cNvPr id="40" name="Shape 40"/>
          <p:cNvSpPr/>
          <p:nvPr/>
        </p:nvSpPr>
        <p:spPr>
          <a:xfrm>
            <a:off x="8092440" y="1417320"/>
            <a:ext cx="35204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8321040" y="160020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Ready for field use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8321040" y="2039112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Offline capture, sync recovery, self-hosted Android updates, and role-based access are built in.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749808" y="3429000"/>
            <a:ext cx="10744200" cy="1417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en-US" sz="2100">
                <a:solidFill>
                  <a:srgbClr val="10231C"/>
                </a:solidFill>
              </a:rPr>
              <a:t>Built a multi-company revolving-fund platform with admin, custodian, approver, CEO, and employee roles.</a:t>
            </a:r>
          </a:p>
          <a:p>
            <a:pPr marL="342900" indent="-228600">
              <a:buChar char="•"/>
            </a:pPr>
            <a:r>
              <a:rPr lang="en-US" sz="2100">
                <a:solidFill>
                  <a:srgbClr val="10231C"/>
                </a:solidFill>
              </a:rPr>
              <a:t>Implemented release-first request handling with proof photo, recipient signature, post-release review, dispute handling, and conflict resolution.</a:t>
            </a:r>
          </a:p>
          <a:p>
            <a:pPr marL="342900" indent="-228600">
              <a:buChar char="•"/>
            </a:pPr>
            <a:r>
              <a:rPr lang="en-US" sz="2100">
                <a:solidFill>
                  <a:srgbClr val="10231C"/>
                </a:solidFill>
              </a:rPr>
              <a:t>Completed replenishment, reporting, fund audit, notifications, profile, account management, and update workflows.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749808" y="5998464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300">
                <a:solidFill>
                  <a:srgbClr val="5F6F68"/>
                </a:solidFill>
              </a:rPr>
              <a:t>Codebase snapshot: 208 Dart source files, 137 test files, about 32k app lines and 16k test 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E7F3ED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840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>
                <a:b/>
                <a:solidFill>
                  <a:srgbClr val="0B6E4F"/>
                </a:solidFill>
              </a:rPr>
              <a:t>Problem Addressed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30352" y="932688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300">
                <a:solidFill>
                  <a:srgbClr val="5F6F68"/>
                </a:solidFill>
              </a:rPr>
              <a:t>Manual petty-cash handling creates avoidable risk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85800" y="1417320"/>
            <a:ext cx="51206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en-US" sz="2200">
                <a:solidFill>
                  <a:srgbClr val="10231C"/>
                </a:solidFill>
              </a:rPr>
              <a:t>Paper notebooks make balances hard to verify in real time.</a:t>
            </a:r>
          </a:p>
          <a:p>
            <a:pPr marL="342900" indent="-228600">
              <a:buChar char="•"/>
            </a:pPr>
            <a:r>
              <a:rPr lang="en-US" sz="2200">
                <a:solidFill>
                  <a:srgbClr val="10231C"/>
                </a:solidFill>
              </a:rPr>
              <a:t>Receipt photos in chats are easy to lose and difficult to audit.</a:t>
            </a:r>
          </a:p>
          <a:p>
            <a:pPr marL="342900" indent="-228600">
              <a:buChar char="•"/>
            </a:pPr>
            <a:r>
              <a:rPr lang="en-US" sz="2200">
                <a:solidFill>
                  <a:srgbClr val="10231C"/>
                </a:solidFill>
              </a:rPr>
              <a:t>Approvals, releases, replenishments, and adjustments can drift apart.</a:t>
            </a:r>
          </a:p>
          <a:p>
            <a:pPr marL="342900" indent="-228600">
              <a:buChar char="•"/>
            </a:pPr>
            <a:r>
              <a:rPr lang="en-US" sz="2200">
                <a:solidFill>
                  <a:srgbClr val="10231C"/>
                </a:solidFill>
              </a:rPr>
              <a:t>Company data must stay isolated even when admins manage multiple companies.</a:t>
            </a:r>
          </a:p>
          <a:p>
            <a:pPr marL="342900" indent="-228600">
              <a:buChar char="•"/>
            </a:pPr>
            <a:r>
              <a:rPr lang="en-US" sz="2200">
                <a:solidFill>
                  <a:srgbClr val="10231C"/>
                </a:solidFill>
              </a:rPr>
              <a:t>Field staff need continuity when connectivity is unreliable.</a:t>
            </a:r>
          </a:p>
        </p:txBody>
      </p:sp>
      <p:sp>
        <p:nvSpPr>
          <p:cNvPr id="30" name="Shape 30"/>
          <p:cNvSpPr/>
          <p:nvPr/>
        </p:nvSpPr>
        <p:spPr>
          <a:xfrm>
            <a:off x="6400800" y="1389888"/>
            <a:ext cx="50749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6748272" y="173736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500">
                <a:b/>
                <a:solidFill>
                  <a:srgbClr val="0B6E4F"/>
                </a:solidFill>
              </a:rPr>
              <a:t>The app answer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748272" y="2450592"/>
            <a:ext cx="4389120" cy="22402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500">
                <a:solidFill>
                  <a:srgbClr val="10231C"/>
                </a:solidFill>
              </a:rPr>
              <a:t>A controlled digital workflow where fund balances, proof, signatures, approvals, replenishments, and reports live in one company-scoped source of truth.</a:t>
            </a:r>
          </a:p>
        </p:txBody>
      </p:sp>
      <p:sp>
        <p:nvSpPr>
          <p:cNvPr id="40" name="Shape 40"/>
          <p:cNvSpPr/>
          <p:nvPr/>
        </p:nvSpPr>
        <p:spPr>
          <a:xfrm>
            <a:off x="6784848" y="5102352"/>
            <a:ext cx="1572768" cy="347472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1" name="Text 41"/>
          <p:cNvSpPr txBox="1"/>
          <p:nvPr/>
        </p:nvSpPr>
        <p:spPr>
          <a:xfrm>
            <a:off x="6858000" y="517093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000">
                <a:b/>
                <a:solidFill>
                  <a:srgbClr val="FFFFFF"/>
                </a:solidFill>
              </a:rPr>
              <a:t>Exact centavos</a:t>
            </a:r>
          </a:p>
        </p:txBody>
      </p:sp>
      <p:sp>
        <p:nvSpPr>
          <p:cNvPr id="42" name="Shape 42"/>
          <p:cNvSpPr/>
          <p:nvPr/>
        </p:nvSpPr>
        <p:spPr>
          <a:xfrm>
            <a:off x="8522208" y="5102352"/>
            <a:ext cx="1572768" cy="347472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3" name="Text 43"/>
          <p:cNvSpPr txBox="1"/>
          <p:nvPr/>
        </p:nvSpPr>
        <p:spPr>
          <a:xfrm>
            <a:off x="8595360" y="517093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000">
                <a:b/>
                <a:solidFill>
                  <a:srgbClr val="FFFFFF"/>
                </a:solidFill>
              </a:rPr>
              <a:t>Role gated</a:t>
            </a:r>
          </a:p>
        </p:txBody>
      </p:sp>
      <p:sp>
        <p:nvSpPr>
          <p:cNvPr id="44" name="Shape 44"/>
          <p:cNvSpPr/>
          <p:nvPr/>
        </p:nvSpPr>
        <p:spPr>
          <a:xfrm>
            <a:off x="10259568" y="5102352"/>
            <a:ext cx="1572768" cy="347472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10332720" y="5170932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000">
                <a:b/>
                <a:solidFill>
                  <a:srgbClr val="FFFFFF"/>
                </a:solidFill>
              </a:rPr>
              <a:t>Audit 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E7F3ED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840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>
                <a:b/>
                <a:solidFill>
                  <a:srgbClr val="0B6E4F"/>
                </a:solidFill>
              </a:rPr>
              <a:t>Completed Application Scope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30352" y="932688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300">
                <a:solidFill>
                  <a:srgbClr val="5F6F68"/>
                </a:solidFill>
              </a:rPr>
              <a:t>Functional modules now present in the app</a:t>
            </a:r>
          </a:p>
        </p:txBody>
      </p:sp>
      <p:sp>
        <p:nvSpPr>
          <p:cNvPr id="20" name="Shape 20"/>
          <p:cNvSpPr/>
          <p:nvPr/>
        </p:nvSpPr>
        <p:spPr>
          <a:xfrm>
            <a:off x="594360" y="132588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22960" y="150876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Auth &amp; Roles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22960" y="1947672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Login, first-time admin setup, forced password change, role redirects.</a:t>
            </a:r>
          </a:p>
        </p:txBody>
      </p:sp>
      <p:sp>
        <p:nvSpPr>
          <p:cNvPr id="30" name="Shape 30"/>
          <p:cNvSpPr/>
          <p:nvPr/>
        </p:nvSpPr>
        <p:spPr>
          <a:xfrm>
            <a:off x="3474720" y="132588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3703320" y="150876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Companies &amp; Funds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3703320" y="1947672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Company setup, funds, assignments, budgets, balance adjustments.</a:t>
            </a:r>
          </a:p>
        </p:txBody>
      </p:sp>
      <p:sp>
        <p:nvSpPr>
          <p:cNvPr id="40" name="Shape 40"/>
          <p:cNvSpPr/>
          <p:nvPr/>
        </p:nvSpPr>
        <p:spPr>
          <a:xfrm>
            <a:off x="6355080" y="132588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6583680" y="150876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Requests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6583680" y="1947672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Create, release, proof, signature, history, post-release review.</a:t>
            </a:r>
          </a:p>
        </p:txBody>
      </p:sp>
      <p:sp>
        <p:nvSpPr>
          <p:cNvPr id="50" name="Shape 50"/>
          <p:cNvSpPr/>
          <p:nvPr/>
        </p:nvSpPr>
        <p:spPr>
          <a:xfrm>
            <a:off x="9235440" y="132588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51" name="Text 51"/>
          <p:cNvSpPr txBox="1"/>
          <p:nvPr/>
        </p:nvSpPr>
        <p:spPr>
          <a:xfrm>
            <a:off x="9464040" y="150876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Replenishment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9464040" y="1947672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Draft, submit, approve/reject, partials, balance reset.</a:t>
            </a:r>
          </a:p>
        </p:txBody>
      </p:sp>
      <p:sp>
        <p:nvSpPr>
          <p:cNvPr id="60" name="Shape 60"/>
          <p:cNvSpPr/>
          <p:nvPr/>
        </p:nvSpPr>
        <p:spPr>
          <a:xfrm>
            <a:off x="594360" y="306324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61" name="Text 61"/>
          <p:cNvSpPr txBox="1"/>
          <p:nvPr/>
        </p:nvSpPr>
        <p:spPr>
          <a:xfrm>
            <a:off x="822960" y="32461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Dashboard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822960" y="3685032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Live totals, utilization, low funds, pending work, recent activity.</a:t>
            </a:r>
          </a:p>
        </p:txBody>
      </p:sp>
      <p:sp>
        <p:nvSpPr>
          <p:cNvPr id="70" name="Shape 70"/>
          <p:cNvSpPr/>
          <p:nvPr/>
        </p:nvSpPr>
        <p:spPr>
          <a:xfrm>
            <a:off x="3474720" y="306324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71" name="Text 71"/>
          <p:cNvSpPr txBox="1"/>
          <p:nvPr/>
        </p:nvSpPr>
        <p:spPr>
          <a:xfrm>
            <a:off x="3703320" y="32461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Reports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3703320" y="3685032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Released and replenishment reports; PDF, CSV, Excel exports.</a:t>
            </a:r>
          </a:p>
        </p:txBody>
      </p:sp>
      <p:sp>
        <p:nvSpPr>
          <p:cNvPr id="80" name="Shape 80"/>
          <p:cNvSpPr/>
          <p:nvPr/>
        </p:nvSpPr>
        <p:spPr>
          <a:xfrm>
            <a:off x="6355080" y="306324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81" name="Text 81"/>
          <p:cNvSpPr txBox="1"/>
          <p:nvPr/>
        </p:nvSpPr>
        <p:spPr>
          <a:xfrm>
            <a:off x="6583680" y="32461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Fund Audit</a:t>
            </a:r>
          </a:p>
        </p:txBody>
      </p:sp>
      <p:sp>
        <p:nvSpPr>
          <p:cNvPr id="82" name="Text 82"/>
          <p:cNvSpPr txBox="1"/>
          <p:nvPr/>
        </p:nvSpPr>
        <p:spPr>
          <a:xfrm>
            <a:off x="6583680" y="3685032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Proof-of-cash counts, denominations, OCR parser, variance verdict.</a:t>
            </a:r>
          </a:p>
        </p:txBody>
      </p:sp>
      <p:sp>
        <p:nvSpPr>
          <p:cNvPr id="90" name="Shape 90"/>
          <p:cNvSpPr/>
          <p:nvPr/>
        </p:nvSpPr>
        <p:spPr>
          <a:xfrm>
            <a:off x="9235440" y="306324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91" name="Text 91"/>
          <p:cNvSpPr txBox="1"/>
          <p:nvPr/>
        </p:nvSpPr>
        <p:spPr>
          <a:xfrm>
            <a:off x="9464040" y="32461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Operations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9464040" y="3685032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Cloudinary config, OneSignal relay, offline sync, Android updates.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749808" y="5806440"/>
            <a:ext cx="1069848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5F6F68"/>
                </a:solidFill>
              </a:rPr>
              <a:t>The result is not just a prototype screen set; it is a layered app with domain models, repositories, Firestore rules, indexes, and automated 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E7F3ED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840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>
                <a:b/>
                <a:solidFill>
                  <a:srgbClr val="0B6E4F"/>
                </a:solidFill>
              </a:rPr>
              <a:t>User Roles Delivered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30352" y="932688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300">
                <a:solidFill>
                  <a:srgbClr val="5F6F68"/>
                </a:solidFill>
              </a:rPr>
              <a:t>Role-specific permissions and landing experiences</a:t>
            </a:r>
          </a:p>
        </p:txBody>
      </p:sp>
      <p:sp>
        <p:nvSpPr>
          <p:cNvPr id="20" name="Shape 20"/>
          <p:cNvSpPr/>
          <p:nvPr/>
        </p:nvSpPr>
        <p:spPr>
          <a:xfrm>
            <a:off x="594360" y="1325880"/>
            <a:ext cx="2743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22960" y="15087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Admin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22960" y="1947672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Creates companies, funds, users; assigns funds; can operate workflows across companies.</a:t>
            </a:r>
          </a:p>
        </p:txBody>
      </p:sp>
      <p:sp>
        <p:nvSpPr>
          <p:cNvPr id="30" name="Shape 30"/>
          <p:cNvSpPr/>
          <p:nvPr/>
        </p:nvSpPr>
        <p:spPr>
          <a:xfrm>
            <a:off x="3584448" y="1325880"/>
            <a:ext cx="2743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3813048" y="15087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Incharge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3813048" y="1947672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Custodian who creates requests, releases cash, replenishes, and records cash counts.</a:t>
            </a:r>
          </a:p>
        </p:txBody>
      </p:sp>
      <p:sp>
        <p:nvSpPr>
          <p:cNvPr id="40" name="Shape 40"/>
          <p:cNvSpPr/>
          <p:nvPr/>
        </p:nvSpPr>
        <p:spPr>
          <a:xfrm>
            <a:off x="6574536" y="1325880"/>
            <a:ext cx="2743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6803136" y="15087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Approvers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6803136" y="1947672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Superior, manager, and CEO review released spend and sign off replenishments.</a:t>
            </a:r>
          </a:p>
        </p:txBody>
      </p:sp>
      <p:sp>
        <p:nvSpPr>
          <p:cNvPr id="50" name="Shape 50"/>
          <p:cNvSpPr/>
          <p:nvPr/>
        </p:nvSpPr>
        <p:spPr>
          <a:xfrm>
            <a:off x="9564624" y="1325880"/>
            <a:ext cx="2057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51" name="Text 51"/>
          <p:cNvSpPr txBox="1"/>
          <p:nvPr/>
        </p:nvSpPr>
        <p:spPr>
          <a:xfrm>
            <a:off x="9793224" y="150876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Employee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9793224" y="1947672"/>
            <a:ext cx="160020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Basic company visibility without fund-management actions.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804672" y="3246120"/>
            <a:ext cx="10469880" cy="17373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en-US" sz="2200">
                <a:solidFill>
                  <a:srgbClr val="10231C"/>
                </a:solidFill>
              </a:rPr>
              <a:t>GoRouter redirects each signed-in user to the correct home and blocks foreign role routes.</a:t>
            </a:r>
          </a:p>
          <a:p>
            <a:pPr marL="342900" indent="-228600">
              <a:buChar char="•"/>
            </a:pPr>
            <a:r>
              <a:rPr lang="en-US" sz="2200">
                <a:solidFill>
                  <a:srgbClr val="10231C"/>
                </a:solidFill>
              </a:rPr>
              <a:t>Reports are limited to admin, CEO, and incharge roles.</a:t>
            </a:r>
          </a:p>
          <a:p>
            <a:pPr marL="342900" indent="-228600">
              <a:buChar char="•"/>
            </a:pPr>
            <a:r>
              <a:rPr lang="en-US" sz="2200">
                <a:solidFill>
                  <a:srgbClr val="10231C"/>
                </a:solidFill>
              </a:rPr>
              <a:t>Fund adjustment is limited to admin and CEO.</a:t>
            </a:r>
          </a:p>
          <a:p>
            <a:pPr marL="342900" indent="-228600">
              <a:buChar char="•"/>
            </a:pPr>
            <a:r>
              <a:rPr lang="en-US" sz="2200">
                <a:solidFill>
                  <a:srgbClr val="10231C"/>
                </a:solidFill>
              </a:rPr>
              <a:t>Fund audit creation is limited to incharge and admin, while same-company roles may view counts.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749808" y="594360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5F6F68"/>
                </a:solidFill>
              </a:rPr>
              <a:t>Permissions are mirrored in Firestore security rules for company-scoped access.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E7F3ED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840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>
                <a:b/>
                <a:solidFill>
                  <a:srgbClr val="0B6E4F"/>
                </a:solidFill>
              </a:rPr>
              <a:t>Core Cash Workflow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30352" y="932688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300">
                <a:solidFill>
                  <a:srgbClr val="5F6F68"/>
                </a:solidFill>
              </a:rPr>
              <a:t>Current release-first lifecycle</a:t>
            </a:r>
          </a:p>
        </p:txBody>
      </p:sp>
      <p:sp>
        <p:nvSpPr>
          <p:cNvPr id="20" name="Shape 20"/>
          <p:cNvSpPr/>
          <p:nvPr/>
        </p:nvSpPr>
        <p:spPr>
          <a:xfrm>
            <a:off x="749808" y="1901952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932688" y="2176272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100">
                <a:b/>
                <a:solidFill>
                  <a:srgbClr val="0B6E4F"/>
                </a:solidFill>
              </a:rPr>
              <a:t>Created</a:t>
            </a:r>
          </a:p>
        </p:txBody>
      </p:sp>
      <p:sp>
        <p:nvSpPr>
          <p:cNvPr id="22" name="Shape 22"/>
          <p:cNvSpPr/>
          <p:nvPr/>
        </p:nvSpPr>
        <p:spPr>
          <a:xfrm>
            <a:off x="2852928" y="1901952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2990088" y="217627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100">
                <a:b/>
                <a:solidFill>
                  <a:srgbClr val="0B6E4F"/>
                </a:solidFill>
              </a:rPr>
              <a:t>Released</a:t>
            </a:r>
          </a:p>
        </p:txBody>
      </p:sp>
      <p:sp>
        <p:nvSpPr>
          <p:cNvPr id="24" name="Shape 24"/>
          <p:cNvSpPr/>
          <p:nvPr/>
        </p:nvSpPr>
        <p:spPr>
          <a:xfrm>
            <a:off x="4956048" y="1901952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5047488" y="2176272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100">
                <a:b/>
                <a:solidFill>
                  <a:srgbClr val="0B6E4F"/>
                </a:solidFill>
              </a:rPr>
              <a:t>Reviewed</a:t>
            </a:r>
          </a:p>
        </p:txBody>
      </p:sp>
      <p:sp>
        <p:nvSpPr>
          <p:cNvPr id="26" name="Shape 26"/>
          <p:cNvSpPr/>
          <p:nvPr/>
        </p:nvSpPr>
        <p:spPr>
          <a:xfrm>
            <a:off x="7059168" y="1901952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7150608" y="2176272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100">
                <a:b/>
                <a:solidFill>
                  <a:srgbClr val="0B6E4F"/>
                </a:solidFill>
              </a:rPr>
              <a:t>Replenish</a:t>
            </a:r>
          </a:p>
        </p:txBody>
      </p:sp>
      <p:sp>
        <p:nvSpPr>
          <p:cNvPr id="28" name="Shape 28"/>
          <p:cNvSpPr/>
          <p:nvPr/>
        </p:nvSpPr>
        <p:spPr>
          <a:xfrm>
            <a:off x="9162288" y="1901952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9345168" y="2176272"/>
            <a:ext cx="1481328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100">
                <a:b/>
                <a:solidFill>
                  <a:srgbClr val="0B6E4F"/>
                </a:solidFill>
              </a:rPr>
              <a:t>Reset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2587752" y="214884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>
                <a:b/>
                <a:solidFill>
                  <a:srgbClr val="F6B84B"/>
                </a:solidFill>
              </a:rPr>
              <a:t>→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4690872" y="214884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>
                <a:b/>
                <a:solidFill>
                  <a:srgbClr val="F6B84B"/>
                </a:solidFill>
              </a:rPr>
              <a:t>→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793992" y="214884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>
                <a:b/>
                <a:solidFill>
                  <a:srgbClr val="F6B84B"/>
                </a:solidFill>
              </a:rPr>
              <a:t>→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8897112" y="214884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>
                <a:b/>
                <a:solidFill>
                  <a:srgbClr val="F6B84B"/>
                </a:solidFill>
              </a:rPr>
              <a:t>→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777240" y="3429000"/>
            <a:ext cx="1060704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en-US" sz="2000">
                <a:solidFill>
                  <a:srgbClr val="10231C"/>
                </a:solidFill>
              </a:rPr>
              <a:t>Custodian records the request and releases cash with proof photo and recipient signature.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0231C"/>
                </a:solidFill>
              </a:rPr>
              <a:t>Approver acknowledges or disputes the already-released spend; disputes remain auditable.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0231C"/>
                </a:solidFill>
              </a:rPr>
              <a:t>Offline releases sync later; overdraft conflicts are routed to a resolution queue instead of silently deducting.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0231C"/>
                </a:solidFill>
              </a:rPr>
              <a:t>Replenishment restores the fund after approval and can handle full or partial line items.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749808" y="5943600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300">
                <a:solidFill>
                  <a:srgbClr val="5F6F68"/>
                </a:solidFill>
              </a:rPr>
              <a:t>The request state machine allows: created → released/rejected, released → acknowledged/disputed/replenished/conflict, conflict → released/rejected.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E7F3ED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840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>
                <a:b/>
                <a:solidFill>
                  <a:srgbClr val="0B6E4F"/>
                </a:solidFill>
              </a:rPr>
              <a:t>Controls &amp; Security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30352" y="932688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300">
                <a:solidFill>
                  <a:srgbClr val="5F6F68"/>
                </a:solidFill>
              </a:rPr>
              <a:t>How the app protects money and tenant data</a:t>
            </a:r>
          </a:p>
        </p:txBody>
      </p:sp>
      <p:sp>
        <p:nvSpPr>
          <p:cNvPr id="20" name="Shape 20"/>
          <p:cNvSpPr/>
          <p:nvPr/>
        </p:nvSpPr>
        <p:spPr>
          <a:xfrm>
            <a:off x="594360" y="132588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22960" y="150876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Exact money model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22960" y="1947672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All amounts are integer centavos. Firestore fields use *Centavos names; no floating-point money math.</a:t>
            </a:r>
          </a:p>
        </p:txBody>
      </p:sp>
      <p:sp>
        <p:nvSpPr>
          <p:cNvPr id="30" name="Shape 30"/>
          <p:cNvSpPr/>
          <p:nvPr/>
        </p:nvSpPr>
        <p:spPr>
          <a:xfrm>
            <a:off x="4343400" y="132588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4572000" y="150876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Guarded state machines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4572000" y="1947672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Request and replenishment transitions are encoded in Dart and Firestore rules.</a:t>
            </a:r>
          </a:p>
        </p:txBody>
      </p:sp>
      <p:sp>
        <p:nvSpPr>
          <p:cNvPr id="40" name="Shape 40"/>
          <p:cNvSpPr/>
          <p:nvPr/>
        </p:nvSpPr>
        <p:spPr>
          <a:xfrm>
            <a:off x="8092440" y="132588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8321040" y="150876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Transactions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8321040" y="1947672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Balance-changing releases, replenishments, and adjustments re-read current server state before writing.</a:t>
            </a:r>
          </a:p>
        </p:txBody>
      </p:sp>
      <p:sp>
        <p:nvSpPr>
          <p:cNvPr id="50" name="Shape 50"/>
          <p:cNvSpPr/>
          <p:nvPr/>
        </p:nvSpPr>
        <p:spPr>
          <a:xfrm>
            <a:off x="594360" y="3401568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51" name="Text 51"/>
          <p:cNvSpPr txBox="1"/>
          <p:nvPr/>
        </p:nvSpPr>
        <p:spPr>
          <a:xfrm>
            <a:off x="822960" y="358444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Company isolation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822960" y="402336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Every important document carries companyId and rule checks use same-company scoping.</a:t>
            </a:r>
          </a:p>
        </p:txBody>
      </p:sp>
      <p:sp>
        <p:nvSpPr>
          <p:cNvPr id="60" name="Shape 60"/>
          <p:cNvSpPr/>
          <p:nvPr/>
        </p:nvSpPr>
        <p:spPr>
          <a:xfrm>
            <a:off x="4343400" y="3401568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61" name="Text 61"/>
          <p:cNvSpPr txBox="1"/>
          <p:nvPr/>
        </p:nvSpPr>
        <p:spPr>
          <a:xfrm>
            <a:off x="4572000" y="358444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Safe repository errors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4572000" y="402336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Repositories return Result&lt;T&gt; and user-safe Failure types instead of leaking raw exceptions to UI.</a:t>
            </a:r>
          </a:p>
        </p:txBody>
      </p:sp>
      <p:sp>
        <p:nvSpPr>
          <p:cNvPr id="70" name="Shape 70"/>
          <p:cNvSpPr/>
          <p:nvPr/>
        </p:nvSpPr>
        <p:spPr>
          <a:xfrm>
            <a:off x="8092440" y="3401568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71" name="Text 71"/>
          <p:cNvSpPr txBox="1"/>
          <p:nvPr/>
        </p:nvSpPr>
        <p:spPr>
          <a:xfrm>
            <a:off x="8321040" y="358444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Sensitive data care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8321040" y="402336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Proof photos, signatures, emails, fund amounts, and dispute reasons stay out of logs and push bodies.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E7F3ED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840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>
                <a:b/>
                <a:solidFill>
                  <a:srgbClr val="0B6E4F"/>
                </a:solidFill>
              </a:rPr>
              <a:t>Offline &amp; Field Readiness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30352" y="932688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300">
                <a:solidFill>
                  <a:srgbClr val="5F6F68"/>
                </a:solidFill>
              </a:rPr>
              <a:t>Designed for real operating conditions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77240" y="1417320"/>
            <a:ext cx="5303520" cy="43891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en-US" sz="2100">
                <a:solidFill>
                  <a:srgbClr val="10231C"/>
                </a:solidFill>
              </a:rPr>
              <a:t>Offline create and release capture are queued in an on-device outbox.</a:t>
            </a:r>
          </a:p>
          <a:p>
            <a:pPr marL="342900" indent="-228600">
              <a:buChar char="•"/>
            </a:pPr>
            <a:r>
              <a:rPr lang="en-US" sz="2100">
                <a:solidFill>
                  <a:srgbClr val="10231C"/>
                </a:solidFill>
              </a:rPr>
              <a:t>Proof photos and recipient signatures are stored locally until upload succeeds.</a:t>
            </a:r>
          </a:p>
          <a:p>
            <a:pPr marL="342900" indent="-228600">
              <a:buChar char="•"/>
            </a:pPr>
            <a:r>
              <a:rPr lang="en-US" sz="2100">
                <a:solidFill>
                  <a:srgbClr val="10231C"/>
                </a:solidFill>
              </a:rPr>
              <a:t>The sync engine drains on reconnect and can be triggered manually.</a:t>
            </a:r>
          </a:p>
          <a:p>
            <a:pPr marL="342900" indent="-228600">
              <a:buChar char="•"/>
            </a:pPr>
            <a:r>
              <a:rPr lang="en-US" sz="2100">
                <a:solidFill>
                  <a:srgbClr val="10231C"/>
                </a:solidFill>
              </a:rPr>
              <a:t>Optimistic balance reflects pending release intents without double-deducting money.</a:t>
            </a:r>
          </a:p>
          <a:p>
            <a:pPr marL="342900" indent="-228600">
              <a:buChar char="•"/>
            </a:pPr>
            <a:r>
              <a:rPr lang="en-US" sz="2100">
                <a:solidFill>
                  <a:srgbClr val="10231C"/>
                </a:solidFill>
              </a:rPr>
              <a:t>Conflict detection handles insufficient balance at sync time.</a:t>
            </a:r>
          </a:p>
        </p:txBody>
      </p:sp>
      <p:sp>
        <p:nvSpPr>
          <p:cNvPr id="30" name="Shape 30"/>
          <p:cNvSpPr/>
          <p:nvPr/>
        </p:nvSpPr>
        <p:spPr>
          <a:xfrm>
            <a:off x="6446520" y="1417320"/>
            <a:ext cx="4983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6784848" y="17830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>
                <a:b/>
                <a:solidFill>
                  <a:srgbClr val="0B6E4F"/>
                </a:solidFill>
              </a:rPr>
              <a:t>Operational outcome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784848" y="2514600"/>
            <a:ext cx="4343400" cy="16916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>
                <a:solidFill>
                  <a:srgbClr val="10231C"/>
                </a:solidFill>
              </a:rPr>
              <a:t>Custodians can keep recording real-world cash activity even when the connection drops, while the app still waits for server-side validation before final money movement.</a:t>
            </a:r>
          </a:p>
        </p:txBody>
      </p:sp>
      <p:sp>
        <p:nvSpPr>
          <p:cNvPr id="40" name="Shape 40"/>
          <p:cNvSpPr/>
          <p:nvPr/>
        </p:nvSpPr>
        <p:spPr>
          <a:xfrm>
            <a:off x="6821424" y="4846320"/>
            <a:ext cx="1572768" cy="347472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1" name="Text 41"/>
          <p:cNvSpPr txBox="1"/>
          <p:nvPr/>
        </p:nvSpPr>
        <p:spPr>
          <a:xfrm>
            <a:off x="6894576" y="491490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000">
                <a:b/>
                <a:solidFill>
                  <a:srgbClr val="FFFFFF"/>
                </a:solidFill>
              </a:rPr>
              <a:t>Outbox</a:t>
            </a:r>
          </a:p>
        </p:txBody>
      </p:sp>
      <p:sp>
        <p:nvSpPr>
          <p:cNvPr id="42" name="Shape 42"/>
          <p:cNvSpPr/>
          <p:nvPr/>
        </p:nvSpPr>
        <p:spPr>
          <a:xfrm>
            <a:off x="8558784" y="4846320"/>
            <a:ext cx="1572768" cy="347472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3" name="Text 43"/>
          <p:cNvSpPr txBox="1"/>
          <p:nvPr/>
        </p:nvSpPr>
        <p:spPr>
          <a:xfrm>
            <a:off x="8631936" y="491490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000">
                <a:b/>
                <a:solidFill>
                  <a:srgbClr val="FFFFFF"/>
                </a:solidFill>
              </a:rPr>
              <a:t>Reconnect sync</a:t>
            </a:r>
          </a:p>
        </p:txBody>
      </p:sp>
      <p:sp>
        <p:nvSpPr>
          <p:cNvPr id="44" name="Shape 44"/>
          <p:cNvSpPr/>
          <p:nvPr/>
        </p:nvSpPr>
        <p:spPr>
          <a:xfrm>
            <a:off x="10296144" y="4846320"/>
            <a:ext cx="1572768" cy="347472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10369296" y="4914900"/>
            <a:ext cx="1426464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000">
                <a:b/>
                <a:solidFill>
                  <a:srgbClr val="FFFFFF"/>
                </a:solidFill>
              </a:rPr>
              <a:t>Conflict queue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E7F3ED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840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>
                <a:b/>
                <a:solidFill>
                  <a:srgbClr val="0B6E4F"/>
                </a:solidFill>
              </a:rPr>
              <a:t>Reporting &amp; Audit Accomplishments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30352" y="932688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300">
                <a:solidFill>
                  <a:srgbClr val="5F6F68"/>
                </a:solidFill>
              </a:rPr>
              <a:t>Traceability for management and finance</a:t>
            </a:r>
          </a:p>
        </p:txBody>
      </p:sp>
      <p:sp>
        <p:nvSpPr>
          <p:cNvPr id="20" name="Shape 20"/>
          <p:cNvSpPr/>
          <p:nvPr/>
        </p:nvSpPr>
        <p:spPr>
          <a:xfrm>
            <a:off x="594360" y="132588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22960" y="150876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Released Requests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22960" y="1947672"/>
            <a:ext cx="3063240" cy="8686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Period report for released cash, with pending-sync rows clearly labeled.</a:t>
            </a:r>
          </a:p>
        </p:txBody>
      </p:sp>
      <p:sp>
        <p:nvSpPr>
          <p:cNvPr id="30" name="Shape 30"/>
          <p:cNvSpPr/>
          <p:nvPr/>
        </p:nvSpPr>
        <p:spPr>
          <a:xfrm>
            <a:off x="4343400" y="132588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4572000" y="150876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Replenishment Detail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4572000" y="1947672"/>
            <a:ext cx="3063240" cy="8686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Approved replenishments can be exported as summary or per-request line items.</a:t>
            </a:r>
          </a:p>
        </p:txBody>
      </p:sp>
      <p:sp>
        <p:nvSpPr>
          <p:cNvPr id="40" name="Shape 40"/>
          <p:cNvSpPr/>
          <p:nvPr/>
        </p:nvSpPr>
        <p:spPr>
          <a:xfrm>
            <a:off x="8092440" y="132588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8321040" y="150876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Export Formats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8321040" y="1947672"/>
            <a:ext cx="3063240" cy="8686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PDF for printable review, CSV for simple transfer, Excel for native workbook analysis.</a:t>
            </a:r>
          </a:p>
        </p:txBody>
      </p:sp>
      <p:sp>
        <p:nvSpPr>
          <p:cNvPr id="50" name="Shape 50"/>
          <p:cNvSpPr/>
          <p:nvPr/>
        </p:nvSpPr>
        <p:spPr>
          <a:xfrm>
            <a:off x="594360" y="347472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51" name="Text 51"/>
          <p:cNvSpPr txBox="1"/>
          <p:nvPr/>
        </p:nvSpPr>
        <p:spPr>
          <a:xfrm>
            <a:off x="822960" y="365760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Cash Count Audit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822960" y="4096511"/>
            <a:ext cx="3063240" cy="8686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Physical cash, outstanding requests, denominations, proof image, and variance verdict are recorded.</a:t>
            </a:r>
          </a:p>
        </p:txBody>
      </p:sp>
      <p:sp>
        <p:nvSpPr>
          <p:cNvPr id="60" name="Shape 60"/>
          <p:cNvSpPr/>
          <p:nvPr/>
        </p:nvSpPr>
        <p:spPr>
          <a:xfrm>
            <a:off x="4343400" y="347472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61" name="Text 61"/>
          <p:cNvSpPr txBox="1"/>
          <p:nvPr/>
        </p:nvSpPr>
        <p:spPr>
          <a:xfrm>
            <a:off x="4572000" y="365760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Dashboard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4572000" y="4096511"/>
            <a:ext cx="3063240" cy="8686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Real-time company totals, effective budget, available balance, utilization, and activity feed.</a:t>
            </a:r>
          </a:p>
        </p:txBody>
      </p:sp>
      <p:sp>
        <p:nvSpPr>
          <p:cNvPr id="70" name="Shape 70"/>
          <p:cNvSpPr/>
          <p:nvPr/>
        </p:nvSpPr>
        <p:spPr>
          <a:xfrm>
            <a:off x="8092440" y="3474720"/>
            <a:ext cx="3520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71" name="Text 71"/>
          <p:cNvSpPr txBox="1"/>
          <p:nvPr/>
        </p:nvSpPr>
        <p:spPr>
          <a:xfrm>
            <a:off x="8321040" y="365760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Low-Balance Visibility</a:t>
            </a:r>
          </a:p>
        </p:txBody>
      </p:sp>
      <p:sp>
        <p:nvSpPr>
          <p:cNvPr id="72" name="Text 72"/>
          <p:cNvSpPr txBox="1"/>
          <p:nvPr/>
        </p:nvSpPr>
        <p:spPr>
          <a:xfrm>
            <a:off x="8321040" y="4096511"/>
            <a:ext cx="3063240" cy="8686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Fund status and alerts help custodians replenish before cash runs 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E7F3ED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840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>
                <a:b/>
                <a:solidFill>
                  <a:srgbClr val="0B6E4F"/>
                </a:solidFill>
              </a:rPr>
              <a:t>Technology &amp; Architecture Delivered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30352" y="932688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300">
                <a:solidFill>
                  <a:srgbClr val="5F6F68"/>
                </a:solidFill>
              </a:rPr>
              <a:t>Maintainable implementation choices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77240" y="1417320"/>
            <a:ext cx="5303520" cy="43434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en-US" sz="2000">
                <a:solidFill>
                  <a:srgbClr val="10231C"/>
                </a:solidFill>
              </a:rPr>
              <a:t>Flutter app using Riverpod for dependency injection and state.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0231C"/>
                </a:solidFill>
              </a:rPr>
              <a:t>Feature-first layered structure: domain, data, and presentation.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0231C"/>
                </a:solidFill>
              </a:rPr>
              <a:t>Firebase Auth and Firestore backend on Spark tier.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0231C"/>
                </a:solidFill>
              </a:rPr>
              <a:t>Cloudinary unsigned uploads for proof images and signatures.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0231C"/>
                </a:solidFill>
              </a:rPr>
              <a:t>OneSignal push via Cloudflare Worker relay, keeping REST keys off-device.</a:t>
            </a:r>
          </a:p>
          <a:p>
            <a:pPr marL="342900" indent="-228600">
              <a:buChar char="•"/>
            </a:pPr>
            <a:r>
              <a:rPr lang="en-US" sz="2000">
                <a:solidFill>
                  <a:srgbClr val="10231C"/>
                </a:solidFill>
              </a:rPr>
              <a:t>Self-hosted Android APK publishing and in-app update checks.</a:t>
            </a:r>
          </a:p>
        </p:txBody>
      </p:sp>
      <p:sp>
        <p:nvSpPr>
          <p:cNvPr id="30" name="Shape 30"/>
          <p:cNvSpPr/>
          <p:nvPr/>
        </p:nvSpPr>
        <p:spPr>
          <a:xfrm>
            <a:off x="6473952" y="1325880"/>
            <a:ext cx="495604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6839712" y="1719072"/>
            <a:ext cx="4343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400">
                <a:b/>
                <a:solidFill>
                  <a:srgbClr val="0B6E4F"/>
                </a:solidFill>
              </a:rPr>
              <a:t>Quality baseline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839712" y="2423160"/>
            <a:ext cx="425196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200">
                <a:solidFill>
                  <a:srgbClr val="10231C"/>
                </a:solidFill>
              </a:rPr>
              <a:t>137 automated test files cover money, state machines, repositories, rules-adjacent behavior, controllers, sync, reports, and routing.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839712" y="3886200"/>
            <a:ext cx="4251960" cy="8686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200">
                <a:solidFill>
                  <a:srgbClr val="10231C"/>
                </a:solidFill>
              </a:rPr>
              <a:t>The app’s most important decisions are extracted into pure functions for focused unit tests.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E7F3ED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840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>
                <a:b/>
                <a:solidFill>
                  <a:srgbClr val="0B6E4F"/>
                </a:solidFill>
              </a:rPr>
              <a:t>Measured Deliverables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30352" y="932688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300">
                <a:solidFill>
                  <a:srgbClr val="5F6F68"/>
                </a:solidFill>
              </a:rPr>
              <a:t>Repository evidence as of June 18, 2026</a:t>
            </a:r>
          </a:p>
        </p:txBody>
      </p:sp>
      <p:sp>
        <p:nvSpPr>
          <p:cNvPr id="20" name="Shape 20"/>
          <p:cNvSpPr/>
          <p:nvPr/>
        </p:nvSpPr>
        <p:spPr>
          <a:xfrm>
            <a:off x="594360" y="137160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22960" y="155448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208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22960" y="1993392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Dart source files across core, services, routing, and feature modules.</a:t>
            </a:r>
          </a:p>
        </p:txBody>
      </p:sp>
      <p:sp>
        <p:nvSpPr>
          <p:cNvPr id="30" name="Shape 30"/>
          <p:cNvSpPr/>
          <p:nvPr/>
        </p:nvSpPr>
        <p:spPr>
          <a:xfrm>
            <a:off x="3355848" y="137160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3584448" y="155448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137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3584448" y="1993392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Automated Flutter/Dart test files committed under test/.</a:t>
            </a:r>
          </a:p>
        </p:txBody>
      </p:sp>
      <p:sp>
        <p:nvSpPr>
          <p:cNvPr id="40" name="Shape 40"/>
          <p:cNvSpPr/>
          <p:nvPr/>
        </p:nvSpPr>
        <p:spPr>
          <a:xfrm>
            <a:off x="6117336" y="137160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41" name="Text 41"/>
          <p:cNvSpPr txBox="1"/>
          <p:nvPr/>
        </p:nvSpPr>
        <p:spPr>
          <a:xfrm>
            <a:off x="6345936" y="155448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32k+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6345936" y="1993392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Approximate app source lines in lib/.</a:t>
            </a:r>
          </a:p>
        </p:txBody>
      </p:sp>
      <p:sp>
        <p:nvSpPr>
          <p:cNvPr id="50" name="Shape 50"/>
          <p:cNvSpPr/>
          <p:nvPr/>
        </p:nvSpPr>
        <p:spPr>
          <a:xfrm>
            <a:off x="8878824" y="1371600"/>
            <a:ext cx="2514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D1"/>
            </a:solidFill>
          </a:ln>
        </p:spPr>
      </p:sp>
      <p:sp>
        <p:nvSpPr>
          <p:cNvPr id="51" name="Text 51"/>
          <p:cNvSpPr txBox="1"/>
          <p:nvPr/>
        </p:nvSpPr>
        <p:spPr>
          <a:xfrm>
            <a:off x="9107424" y="155448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>
                <a:b/>
                <a:solidFill>
                  <a:srgbClr val="0B6E4F"/>
                </a:solidFill>
              </a:rPr>
              <a:t>16k+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9107424" y="1993392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400">
                <a:solidFill>
                  <a:srgbClr val="10231C"/>
                </a:solidFill>
              </a:rPr>
              <a:t>Approximate test source lines in test/.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777240" y="3429000"/>
            <a:ext cx="10469880" cy="1645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en-US" sz="2100">
                <a:solidFill>
                  <a:srgbClr val="10231C"/>
                </a:solidFill>
              </a:rPr>
              <a:t>Version configured in pubspec.yaml: 1.4.0+12.</a:t>
            </a:r>
          </a:p>
          <a:p>
            <a:pPr marL="342900" indent="-228600">
              <a:buChar char="•"/>
            </a:pPr>
            <a:r>
              <a:rPr lang="en-US" sz="2100">
                <a:solidFill>
                  <a:srgbClr val="10231C"/>
                </a:solidFill>
              </a:rPr>
              <a:t>Application ID configured for Android releases: ph.com.brigada.revapp.</a:t>
            </a:r>
          </a:p>
          <a:p>
            <a:pPr marL="342900" indent="-228600">
              <a:buChar char="•"/>
            </a:pPr>
            <a:r>
              <a:rPr lang="en-US" sz="2100">
                <a:solidFill>
                  <a:srgbClr val="10231C"/>
                </a:solidFill>
              </a:rPr>
              <a:t>Firestore rules and composite indexes are part of the repository.</a:t>
            </a:r>
          </a:p>
          <a:p>
            <a:pPr marL="342900" indent="-228600">
              <a:buChar char="•"/>
            </a:pPr>
            <a:r>
              <a:rPr lang="en-US" sz="2100">
                <a:solidFill>
                  <a:srgbClr val="10231C"/>
                </a:solidFill>
              </a:rPr>
              <a:t>Setup documentation covers Firebase, Cloudinary, OneSignal relay, and self-hosted update publishing.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749808" y="5943600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300">
                <a:solidFill>
                  <a:srgbClr val="5F6F68"/>
                </a:solidFill>
              </a:rPr>
              <a:t>These counts are from the local repository snapshot used to create this report.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E7F3ED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840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>
                <a:b/>
                <a:solidFill>
                  <a:srgbClr val="0B6E4F"/>
                </a:solidFill>
              </a:rPr>
              <a:t>Business Impact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30352" y="932688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300">
                <a:solidFill>
                  <a:srgbClr val="5F6F68"/>
                </a:solidFill>
              </a:rPr>
              <a:t>What the accomplishment means for users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77240" y="1417320"/>
            <a:ext cx="10469880" cy="40233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en-US" sz="2300">
                <a:solidFill>
                  <a:srgbClr val="10231C"/>
                </a:solidFill>
              </a:rPr>
              <a:t>Faster fund operations: custodians can record, release, and replenish in one flow.</a:t>
            </a:r>
          </a:p>
          <a:p>
            <a:pPr marL="342900" indent="-228600">
              <a:buChar char="•"/>
            </a:pPr>
            <a:r>
              <a:rPr lang="en-US" sz="2300">
                <a:solidFill>
                  <a:srgbClr val="10231C"/>
                </a:solidFill>
              </a:rPr>
              <a:t>Better accountability: proof, signatures, status history, disputes, and audit counts are attached to records.</a:t>
            </a:r>
          </a:p>
          <a:p>
            <a:pPr marL="342900" indent="-228600">
              <a:buChar char="•"/>
            </a:pPr>
            <a:r>
              <a:rPr lang="en-US" sz="2300">
                <a:solidFill>
                  <a:srgbClr val="10231C"/>
                </a:solidFill>
              </a:rPr>
              <a:t>Cleaner management visibility: dashboards and reports reduce manual consolidation work.</a:t>
            </a:r>
          </a:p>
          <a:p>
            <a:pPr marL="342900" indent="-228600">
              <a:buChar char="•"/>
            </a:pPr>
            <a:r>
              <a:rPr lang="en-US" sz="2300">
                <a:solidFill>
                  <a:srgbClr val="10231C"/>
                </a:solidFill>
              </a:rPr>
              <a:t>Lower deployment cost: Firebase Spark tier plus Cloudflare Worker relay avoids Cloud Functions requirements.</a:t>
            </a:r>
          </a:p>
          <a:p>
            <a:pPr marL="342900" indent="-228600">
              <a:buChar char="•"/>
            </a:pPr>
            <a:r>
              <a:rPr lang="en-US" sz="2300">
                <a:solidFill>
                  <a:srgbClr val="10231C"/>
                </a:solidFill>
              </a:rPr>
              <a:t>More resilient field work: offline capture and reconnect sync reduce stoppage from weak connectivity.</a:t>
            </a:r>
          </a:p>
        </p:txBody>
      </p:sp>
      <p:sp>
        <p:nvSpPr>
          <p:cNvPr id="30" name="Shape 30"/>
          <p:cNvSpPr/>
          <p:nvPr/>
        </p:nvSpPr>
        <p:spPr>
          <a:xfrm>
            <a:off x="749808" y="5486400"/>
            <a:ext cx="10789920" cy="658368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1005840" y="5669280"/>
            <a:ext cx="10149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700">
                <a:b/>
                <a:solidFill>
                  <a:srgbClr val="FFFFFF"/>
                </a:solidFill>
              </a:rPr>
              <a:t>Overall: the project has moved from a fund-tracking idea into a field-ready operational system.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BF8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E7F3ED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02920" y="3840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>
                <a:b/>
                <a:solidFill>
                  <a:srgbClr val="0B6E4F"/>
                </a:solidFill>
              </a:rPr>
              <a:t>Recommended Next Steps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530352" y="932688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300">
                <a:solidFill>
                  <a:srgbClr val="5F6F68"/>
                </a:solidFill>
              </a:rPr>
              <a:t>To move from completed build to rollout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77240" y="1371600"/>
            <a:ext cx="10469880" cy="42519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en-US" sz="2200">
                <a:solidFill>
                  <a:srgbClr val="10231C"/>
                </a:solidFill>
              </a:rPr>
              <a:t>Run a pilot with real custodians and approvers using a small number of active funds.</a:t>
            </a:r>
          </a:p>
          <a:p>
            <a:pPr marL="342900" indent="-228600">
              <a:buChar char="•"/>
            </a:pPr>
            <a:r>
              <a:rPr lang="en-US" sz="2200">
                <a:solidFill>
                  <a:srgbClr val="10231C"/>
                </a:solidFill>
              </a:rPr>
              <a:t>Deploy latest Firestore rules and indexes together before production data entry.</a:t>
            </a:r>
          </a:p>
          <a:p>
            <a:pPr marL="342900" indent="-228600">
              <a:buChar char="•"/>
            </a:pPr>
            <a:r>
              <a:rPr lang="en-US" sz="2200">
                <a:solidFill>
                  <a:srgbClr val="10231C"/>
                </a:solidFill>
              </a:rPr>
              <a:t>Confirm Android signing-key backups, FTP/HTTPS publish settings, and update manifest URL.</a:t>
            </a:r>
          </a:p>
          <a:p>
            <a:pPr marL="342900" indent="-228600">
              <a:buChar char="•"/>
            </a:pPr>
            <a:r>
              <a:rPr lang="en-US" sz="2200">
                <a:solidFill>
                  <a:srgbClr val="10231C"/>
                </a:solidFill>
              </a:rPr>
              <a:t>Prepare admin/user onboarding checklist and role-assignment process.</a:t>
            </a:r>
          </a:p>
          <a:p>
            <a:pPr marL="342900" indent="-228600">
              <a:buChar char="•"/>
            </a:pPr>
            <a:r>
              <a:rPr lang="en-US" sz="2200">
                <a:solidFill>
                  <a:srgbClr val="10231C"/>
                </a:solidFill>
              </a:rPr>
              <a:t>Review privacy handling for proof photos, signatures, reports, and exported files.</a:t>
            </a:r>
          </a:p>
          <a:p>
            <a:pPr marL="342900" indent="-228600">
              <a:buChar char="•"/>
            </a:pPr>
            <a:r>
              <a:rPr lang="en-US" sz="2200">
                <a:solidFill>
                  <a:srgbClr val="10231C"/>
                </a:solidFill>
              </a:rPr>
              <a:t>Collect pilot feedback on screens, wording, approval timing, and report formats.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777240" y="5870448"/>
            <a:ext cx="1046988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300">
                <a:solidFill>
                  <a:srgbClr val="5F6F68"/>
                </a:solidFill>
              </a:rPr>
              <a:t>This report was generated from the app repository and current source documentation.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13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 App Accomplishment Report</dc:title>
  <dc:creator>Codex</dc:creator>
  <cp:lastModifiedBy>Codex</cp:lastModifiedBy>
  <dcterms:created xsi:type="dcterms:W3CDTF">2026-06-18T00:00:00Z</dcterms:created>
  <dcterms:modified xsi:type="dcterms:W3CDTF">2026-06-18T00:00:00Z</dcterms:modified>
</cp:coreProperties>
</file>